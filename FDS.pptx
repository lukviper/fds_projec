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Today we walk through our Foundations of Data Science project — not as an ML demo, but as a full workflow: messy transactions → clean labels → exploration → careful modelling → how sure we can be about what we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problem is simple; data-science challenge is harder. Raw file is invoice lines, not churn yes/no. Turning events into a valid customer-level problem is what FDS trains us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person owns a real stage. Without Member 1's labels, nothing else is valid. Faculty can verify each stage with files and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started from a real public retail dataset — identity gaps, cancellations, duplicates, and time windows show up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follow COs in order. ML appears only after statistics, cleaning, and exploration — models are one way to get insight, not the whole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job was to make the problem valid. If churn labels are wrong, every chart and model later 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Pre-processing is not deleting inconvenient rows. Each rule has a definitional reason. Without Customer ID we cannot follow the same person into 2011.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Churn is a carefully defined binary outcome. Past window for features, future window for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Six-month prediction window: long enough to see repurchase, still inside available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take Member 1’s customer list and ask what these people look like — and how to summarise a year of shopping into readable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any algorithm, pictures already tell a story. EDA guides features and later hypothesis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engineering is still Foundations work: transform events, defend imputation, control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Member 3 cannot explain what recency_days means, the model is already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part is how we evaluate under time, not who wins a contest.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Temporal splitting is how Foundations of Data Science meets real sequential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Forest won on validation PR-AUC. CO4 in service of insight, not the centre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Modelling is the last mile of a careful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CO5: analyse degree of certainty using statistical tests and models — same labels, features, frozen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 not say the model is right because AUC looks nice. We ask whether engineered features actually separate churned and retained customers under nonparametric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 helps a stakeholder hear why this customer looks risky.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Certainty means knowing the limits of your claims — and showing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pipeline is the project. Models are one station on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faculty asks what we learned in this subject — this table is 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of us can point to files and numbers for that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Happy to take questions on churn definition, leakage control, EDA, or statistical 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Customer Churn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D4E8EC"/>
                </a:solidFill>
                <a:latin typeface="Calibri"/>
              </a:rPr>
              <a:t>with Explainable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45C26"/>
                </a:solidFill>
                <a:latin typeface="Calibri"/>
              </a:rPr>
              <a:t>Foundations of Data Science  ·  CO1–CO5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UCI Online Retail II  ·  4-member team project</a:t>
            </a:r>
          </a:p>
          <a:p>
            <a:r>
              <a:rPr sz="1500" b="0">
                <a:solidFill>
                  <a:srgbClr val="D4E8EC"/>
                </a:solidFill>
                <a:latin typeface="Calibri"/>
              </a:rPr>
              <a:t>Pipeline: Preprocessing → EDA &amp; Features → Classification → Certainty &amp;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Why this project?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Problem in plain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Online retailers lose revenue when customers stop buying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Our question: Among customers active in 2010, who does not return in early 2011?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Goal: a trustworthy, time-aware churn analysis — then predict and explain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Most of the work is Foundations of Data Science: make the problem valid before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How we organised the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Clear ownership · sequential handoffs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C2C2C"/>
                </a:solidFill>
                <a:latin typeface="Calibri"/>
              </a:rPr>
              <a:t>•  M1 Data &amp; Preprocessing → M2 EDA &amp; Features → M3 Classification → M4 Certainty &amp; Demo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1168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029200"/>
                <a:gridCol w="228600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Owns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 weight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Member 1 — Shasank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Cleaning, periods, churn labels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CO1, CO2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Member 2 — [Name]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EDA, visuals, RFM / behaviour features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CO2, CO3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Member 3 — [Name]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Temporal split, LR / RF / 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Member 4 — [Name]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Statistical tests, SHAP, Streamlit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CO1, CO5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Dataset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Common to all members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43000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686800"/>
              </a:tblGrid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UCI Online Retail II (Chen, 2019)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Raw size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~1.07 million invoice lines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Columns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Invoice, StockCode, Quantity, InvoiceDate, Price, Customer ID, Country…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Span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Dec 2009 → Dec 2011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Study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Observe 2010 · Label repurchase Jan–Jun 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Course outcomes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Our compass for this presentation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15568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6858000"/>
              </a:tblGrid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 our project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Statistical foundations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Binary outcome; distributions; significance; certainty language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CO2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Pre-processing raw data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IDs / cancels / dupes; imputation; observation-only features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EDA &amp; insightful visuals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Churn mix, country, RFM plots, correlation with churn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CO4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ML for classification / insight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Temporal split; LR vs RF vs XGBoost; metrics beyond accuracy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Degree of certainty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Mann–Whitney, point-biserial, chi-square; SHAP explanations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Member 1 — Shasank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Data Collection &amp; Preprocessing  ·  CO1 + CO2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C2C2C"/>
                </a:solidFill>
                <a:latin typeface="Calibri"/>
              </a:rPr>
              <a:t>•  Owned by Member 1 — Shasank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Acquire and cite the UCI dataset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Inspect structure and data types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Define cleaning rules and document why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Define observation vs prediction periods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Define churn scientifically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Hand Member 2 a validated customer table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Artifacts: src/preprocessing.py · data/processed/ · docs/preprocessing_decisions.md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From invoices to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CO2 in practice — every drop has a reason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15568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011680"/>
                <a:gridCol w="5669280"/>
              </a:tblGrid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Cleaning step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Rows affected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Missing Customer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243,007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Guests cannot be tracked → cannot define churn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Cancelled invoices (C…)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18,744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Cancellations are not completed purchases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Invalid qty / price ≤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Not reliable sales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Exact duplicates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26,124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Recording noise, not extra purchases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Cleaned transactions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779,425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Usable purchase events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Study design: time windows &amp; churn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CO1 — statistical foundations of the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Observation: 1 Jan 2010 — 31 Dec 2010  → behaviour we may use as inputs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Prediction:  1 Jan 2011 — 30 Jun 2011  → used ONLY for the label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Eligible: bought at least once in 2010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churn = 1 if no cleaned purchase in Jan–Jun 2011; else 0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Result: 4,231 customers · 2,217 churned · 2,014 retained · ≈ 52.4% churn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This separation avoids target leakage — CO1 study design before modelling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What Member 1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Practical Foundations of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Real data is messy; cleaning rules must be written down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Labels are a research-design decision — not a free column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Validation matters: M1 report passed all_passed = true before handoff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Practical FDS: good data science starts with definitions and honesty about drops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Member 2 — [Name]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EDA &amp; Feature Engineering  ·  CO2 + CO3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C2C2C"/>
                </a:solidFill>
                <a:latin typeface="Calibri"/>
              </a:rPr>
              <a:t>•  Owned by Member 2 — [Name]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Validate Member 1’s handoff (churn labels unchanged)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Explore customer and churn distributions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Build RFM + behavioural features from 2010 only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Handle feature missingness carefully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Produce visuals and feature dictionary for Member 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Artifacts: src/features.py · data/features/ · docs/m2_eda_findings.md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Exploratory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CO3 — patterns before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Near-balanced churn: ~52% vs ~48%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UK dominates country mix (visible in top-10 chart)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Monetary &amp; frequency are right-skewed — typical retail, not “bad data”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08960"/>
          <a:ext cx="1115568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4754880"/>
              </a:tblGrid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Corr. with churn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Story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Recency (days since last buy)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+0.31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Longer silence → more churn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Product diversity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−0.29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Broader basket → less churn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−0.27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More invoices → less churn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Feature engineering as pre-processing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CO2 continued — analysis-ready variables without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2C2C2C"/>
                </a:solidFill>
                <a:latin typeface="Calibri"/>
              </a:rPr>
              <a:t>•  RFM:</a:t>
            </a:r>
            <a:r>
              <a:rPr sz="1800" b="0">
                <a:solidFill>
                  <a:srgbClr val="2C2C2C"/>
                </a:solidFill>
                <a:latin typeface="Calibri"/>
              </a:rPr>
              <a:t> Recency · Frequency · Monetary (relative to 31 Dec 2010)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C2C2C"/>
                </a:solidFill>
                <a:latin typeface="Calibri"/>
              </a:rPr>
              <a:t>•  Behavioural:</a:t>
            </a:r>
            <a:r>
              <a:rPr sz="1800" b="0">
                <a:solidFill>
                  <a:srgbClr val="2C2C2C"/>
                </a:solidFill>
                <a:latin typeface="Calibri"/>
              </a:rPr>
              <a:t> AOV, purchase interval, product diversity, cancellation rate, spending/order trends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Hard rule: no prediction-period fields · churn_unchanged = true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Single-purchase interval: median impute + flag (~1,418 customers)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IQR outliers reported but kept — do not distort churn base rate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Cancellation rate from raw C-invoices (cleaned file has none)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What Member 2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Practical Foundations of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EDA first saves modelling from blind guessing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Correlation is a clue, not causation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Observation-only features are the line between science and cheating the future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A feature dictionary matters as much as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Member 3 — [Name]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Classification for insight  ·  CO4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C2C2C"/>
                </a:solidFill>
                <a:latin typeface="Calibri"/>
              </a:rPr>
              <a:t>•  Owned by Member 3 — [Name]</a:t>
            </a:r>
            <a:r>
              <a:rPr sz="1800" b="0">
                <a:solidFill>
                  <a:srgbClr val="2C2C2C"/>
                </a:solidFill>
                <a:latin typeface="Calibri"/>
              </a:rPr>
              <a:t>  (CO4 — kept secondary to FDS)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Temporal train / validation / test split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Class-imbalance awareness under time shift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Train Logistic Regression, Random Forest, XGBoost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Compare with ROC-AUC, PR-AUC, Precision, Recall, F1 — not accuracy alone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Freeze selected pipeline for Member 4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Artifacts: src/modeling.py · models/ · docs/experiment_notes.md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Temporal protocol &amp; imbalance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Still FDS thinking — honest evaluation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15568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3840480"/>
              </a:tblGrid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 (last purchase in 2010)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≤ 31 Aug 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Fit preprocess +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Sep–Oct 2010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Select model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≥ 1 Nov 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Honest final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Churn rate shifts across cohorts (train ~74% → test ~37%)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Used class weights / scale_pos_weight — world changes over time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Random shuffle would mix cohorts and give optimistic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Model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CO4 — insight, briefly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097280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2743200"/>
                <a:gridCol w="2286000"/>
              </a:tblGrid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 PR-AUC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ROC-AUC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Selected?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0.691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0.715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0.755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0.691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0.709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576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Selected RF test: PR-AUC 0.625 · Precision 0.646 · Recall 0.494 · F1 0.560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We use these numbers to ask: do behavioural features carry signal? — not to sell magic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What Member 3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Practical Foundations of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Algorithm choice matters less than split design and metric choice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Accuracy alone misleads under drifting base rates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Pipelines must freeze preprocessing with the model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In FDS, modelling is the last mile of a careful experiment — not the first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Member 4 — [Name]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Certainty, explanation &amp; delivery  ·  CO1 + CO5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2C2C2C"/>
                </a:solidFill>
                <a:latin typeface="Calibri"/>
              </a:rPr>
              <a:t>•  Owned by Member 4 — [Name]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Load Member 3’s frozen Random Forest (no silent retrain)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Hypothesis tests: feature ↔ churn association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Explain predictions with SHAP (global + local)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Streamlit demo: probability, risk band, top factors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•  Artifacts: src/explain.py · app/streamlit_app.py · docs/xai/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Statistical 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CO5 / CO1 — how sure are we?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09728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  <a:gridCol w="1828800"/>
              </a:tblGrid>
              <a:tr h="4145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Applied to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α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Mann–Whitney U + point-biserial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12 numeric features vs churn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Chi-square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Country (top groups + Other)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2004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Result: 12/12 numeric features significant; country also significant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Tests = feature differs by churn label in the data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SHAP = what the trained model uses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C2C2C"/>
                </a:solidFill>
                <a:latin typeface="Calibri"/>
              </a:rPr>
              <a:t>•  Together: data-level association + model-level attribution — not the same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SHAP in one minute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Supporting insight for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Global drivers: monetary, frequency, average order value, spending trend…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Local: for one high-risk customer, show factors pushing probability up or down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Streamlit risk bands: Low &lt; 0.33 · Medium · High ≥ 0.66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In an FDS talk: explainability supports trust; tests support certainty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What Member 4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Practical Foundations of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“Significant” and “important to the model” are related but not identical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Freezing the pipeline prevents explanation theatre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A demo is useful only if inputs still respect the observation window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2C2C2C"/>
                </a:solidFill>
                <a:latin typeface="Calibri"/>
              </a:rPr>
              <a:t>•  Certainty means knowing — and showing — the limits of your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End-to-end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One picture of the whole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2C2C2C"/>
                </a:solidFill>
                <a:latin typeface="Calibri"/>
              </a:rPr>
              <a:t>•  1.07M raw lines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C2C2C"/>
                </a:solidFill>
                <a:latin typeface="Calibri"/>
              </a:rPr>
              <a:t>•  → 779k cleaned purchases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C2C2C"/>
                </a:solidFill>
                <a:latin typeface="Calibri"/>
              </a:rPr>
              <a:t>•  → 4,231 labelled customers (~52% churn)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C2C2C"/>
                </a:solidFill>
                <a:latin typeface="Calibri"/>
              </a:rPr>
              <a:t>•  → RFM + behaviour features (observation-only)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C2C2C"/>
                </a:solidFill>
                <a:latin typeface="Calibri"/>
              </a:rPr>
              <a:t>•  → Temporally evaluated RF (test ROC-AUC ~0.76)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C2C2C"/>
                </a:solidFill>
                <a:latin typeface="Calibri"/>
              </a:rPr>
              <a:t>•  → Significant feature–churn tests + SHAP + Streamlit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2C2C2C"/>
                </a:solidFill>
                <a:latin typeface="Calibri"/>
              </a:rPr>
              <a:t>•  That pipeline is the project. Models are one station on the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What we learned in Foundations of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CO1–CO5 as lived practice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1115568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058400"/>
              </a:tblGrid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Practical lesson from this project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Study design: windows, binary outcomes, distributions, significance, careful certainty wording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CO2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Pre-processing = reasoning under constraints — documented so others can reproduce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EDA surfaces patterns (recency, frequency, diversity) before algorithms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CO4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Classification helps with temporal evaluation &amp; proper metrics — insight &gt; accuracy chase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CO5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Certainty from tests + transparent explanations; report what is significant and what stays uncertain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Individual accountability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Quick viva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5953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One sentence to own in viva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M1 Shasank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I made churn a valid, time-separated label from cleaned retail events.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M2 [Name]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I explored patterns and engineered observation-only RFM/behaviour features.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M3 [Name]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I compared classifiers under a temporal split and froze the best evidenced model.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M4 [Name]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2C2C"/>
                          </a:solidFill>
                          <a:latin typeface="Calibri"/>
                        </a:rPr>
                        <a:t>I quantified feature–churn associations, explained predictions, and shipped the demo.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47472"/>
          </a:xfrm>
          <a:prstGeom prst="rect">
            <a:avLst/>
          </a:prstGeom>
          <a:solidFill>
            <a:srgbClr val="2A6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Foundations of Data Science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3A4B"/>
                </a:solidFill>
                <a:latin typeface="Calibri"/>
              </a:rPr>
              <a:t>Foundations first  →  models second  →  certainty always</a:t>
            </a:r>
          </a:p>
          <a:p>
            <a:pPr algn="ctr">
              <a:spcBef>
                <a:spcPts val="2800"/>
              </a:spcBef>
            </a:pPr>
            <a:r>
              <a:rPr sz="2200" b="0">
                <a:solidFill>
                  <a:srgbClr val="2A6F7F"/>
                </a:solidFill>
                <a:latin typeface="Calibri"/>
              </a:rPr>
              <a:t>Thank you — questions welcome</a:t>
            </a:r>
          </a:p>
          <a:p>
            <a:pPr algn="ctr">
              <a:spcBef>
                <a:spcPts val="1800"/>
              </a:spcBef>
            </a:pPr>
            <a:r>
              <a:rPr sz="1600" b="0">
                <a:solidFill>
                  <a:srgbClr val="5A5A5A"/>
                </a:solidFill>
                <a:latin typeface="Calibri"/>
              </a:rPr>
              <a:t>Especially on: churn definition · leakage · EDA · statistical certainty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Foundations of Data Science  ·  Customer Churn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